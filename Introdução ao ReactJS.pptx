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24" r:id="rId2"/>
    <p:sldId id="376" r:id="rId3"/>
    <p:sldId id="301" r:id="rId4"/>
    <p:sldId id="357" r:id="rId5"/>
    <p:sldId id="323" r:id="rId6"/>
    <p:sldId id="377" r:id="rId7"/>
    <p:sldId id="340" r:id="rId8"/>
    <p:sldId id="322" r:id="rId9"/>
    <p:sldId id="320" r:id="rId10"/>
    <p:sldId id="378" r:id="rId11"/>
    <p:sldId id="380" r:id="rId12"/>
    <p:sldId id="327" r:id="rId13"/>
    <p:sldId id="379" r:id="rId14"/>
    <p:sldId id="381" r:id="rId15"/>
    <p:sldId id="382" r:id="rId16"/>
    <p:sldId id="384" r:id="rId17"/>
    <p:sldId id="383" r:id="rId18"/>
    <p:sldId id="386" r:id="rId19"/>
    <p:sldId id="388" r:id="rId20"/>
    <p:sldId id="389" r:id="rId21"/>
    <p:sldId id="390" r:id="rId22"/>
    <p:sldId id="391" r:id="rId23"/>
    <p:sldId id="393" r:id="rId24"/>
    <p:sldId id="394" r:id="rId25"/>
    <p:sldId id="395" r:id="rId26"/>
    <p:sldId id="341" r:id="rId27"/>
    <p:sldId id="392" r:id="rId28"/>
    <p:sldId id="319" r:id="rId29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8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85" d="100"/>
          <a:sy n="85" d="100"/>
        </p:scale>
        <p:origin x="870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3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50"/>
    </p:cViewPr>
  </p:sorterViewPr>
  <p:notesViewPr>
    <p:cSldViewPr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E8088-0388-464E-8E3C-2DB2A88640B3}" type="datetimeFigureOut">
              <a:rPr lang="pt-BR" smtClean="0"/>
              <a:t>24/10/2019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C5B85-085A-4026-8E36-F2F7DFD78E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23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32789-EA74-4020-A8B2-D9B02C1294BF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46E79-AFCA-446B-87A2-8C257503183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3.jpe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jpeg"/><Relationship Id="rId10" Type="http://schemas.openxmlformats.org/officeDocument/2006/relationships/image" Target="../media/image10.jpeg"/><Relationship Id="rId4" Type="http://schemas.openxmlformats.org/officeDocument/2006/relationships/image" Target="../media/image5.jpeg"/><Relationship Id="rId9" Type="http://schemas.openxmlformats.org/officeDocument/2006/relationships/image" Target="../media/image9.jpeg"/><Relationship Id="rId14" Type="http://schemas.openxmlformats.org/officeDocument/2006/relationships/image" Target="../media/image1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hyperlink" Target="https://www.npmjs.com/get-npm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21.png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11" Type="http://schemas.openxmlformats.org/officeDocument/2006/relationships/image" Target="../media/image20.jpeg"/><Relationship Id="rId5" Type="http://schemas.openxmlformats.org/officeDocument/2006/relationships/hyperlink" Target="https://code.visualstudio.com/" TargetMode="External"/><Relationship Id="rId10" Type="http://schemas.openxmlformats.org/officeDocument/2006/relationships/image" Target="../media/image19.png"/><Relationship Id="rId4" Type="http://schemas.openxmlformats.org/officeDocument/2006/relationships/hyperlink" Target="https://yarnpkg.com/en/docs/install" TargetMode="Externa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hyperlink" Target="https://pt-br.reactjs.org/" TargetMode="External"/><Relationship Id="rId7" Type="http://schemas.openxmlformats.org/officeDocument/2006/relationships/hyperlink" Target="https://blog.rocketseat.com.br/react-do-zero-ciclo-de-vida-stateless-components-e-arquitetura-flux/" TargetMode="External"/><Relationship Id="rId2" Type="http://schemas.openxmlformats.org/officeDocument/2006/relationships/hyperlink" Target="https://github.com/mach3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hugooodias/reactjs-para-iniciantes-criando-um-clone-do-instagram-b10bcef4bd59" TargetMode="External"/><Relationship Id="rId5" Type="http://schemas.openxmlformats.org/officeDocument/2006/relationships/hyperlink" Target="https://medium.com/reactbrasil/10-assuntos-que-todo-iniciante-em-react-deve-ficar-por-dentro-a990dd1b0461" TargetMode="External"/><Relationship Id="rId4" Type="http://schemas.openxmlformats.org/officeDocument/2006/relationships/hyperlink" Target="https://reactjsexample.com/" TargetMode="Externa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915566"/>
            <a:ext cx="7772400" cy="22322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Introdução ao </a:t>
            </a:r>
            <a:r>
              <a:rPr lang="pt-BR" sz="3200" dirty="0" err="1"/>
              <a:t>ReactJS</a:t>
            </a:r>
            <a:br>
              <a:rPr lang="pt-BR" sz="3200" dirty="0"/>
            </a:br>
            <a:endParaRPr lang="pt-BR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67894"/>
            <a:ext cx="6400800" cy="1080120"/>
          </a:xfrm>
        </p:spPr>
        <p:txBody>
          <a:bodyPr>
            <a:noAutofit/>
          </a:bodyPr>
          <a:lstStyle/>
          <a:p>
            <a:r>
              <a:rPr lang="pt-BR" sz="1800" dirty="0"/>
              <a:t>Instrutor: Marcelo Ramos Machado</a:t>
            </a:r>
            <a:endParaRPr lang="pt-BR" sz="1200" dirty="0"/>
          </a:p>
          <a:p>
            <a:r>
              <a:rPr lang="pt-BR" sz="1800" dirty="0"/>
              <a:t>e-</a:t>
            </a:r>
            <a:r>
              <a:rPr lang="pt-BR" sz="1800" dirty="0" err="1"/>
              <a:t>Tic</a:t>
            </a:r>
            <a:r>
              <a:rPr lang="pt-BR" sz="1800" dirty="0"/>
              <a:t> 2019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5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0" y="1995686"/>
            <a:ext cx="4114800" cy="2322370"/>
          </a:xfrm>
        </p:spPr>
        <p:txBody>
          <a:bodyPr anchor="ctr">
            <a:noAutofit/>
          </a:bodyPr>
          <a:lstStyle/>
          <a:p>
            <a:r>
              <a:rPr lang="pt-BR" sz="1600" dirty="0"/>
              <a:t>Apresentação da ferramenta</a:t>
            </a:r>
          </a:p>
          <a:p>
            <a:r>
              <a:rPr lang="pt-BR" sz="1600" dirty="0"/>
              <a:t>Requisitos e instalação</a:t>
            </a:r>
          </a:p>
          <a:p>
            <a:r>
              <a:rPr lang="pt-BR" sz="1600" dirty="0"/>
              <a:t>Extensões úteis do VS </a:t>
            </a:r>
            <a:r>
              <a:rPr lang="pt-BR" sz="1600" dirty="0" err="1"/>
              <a:t>Code</a:t>
            </a:r>
            <a:endParaRPr lang="pt-BR" sz="1600" dirty="0"/>
          </a:p>
          <a:p>
            <a:r>
              <a:rPr lang="pt-BR" sz="1600" dirty="0"/>
              <a:t>Componentes</a:t>
            </a:r>
          </a:p>
          <a:p>
            <a:r>
              <a:rPr lang="pt-BR" sz="1600" dirty="0"/>
              <a:t>Tipos de componentes</a:t>
            </a:r>
          </a:p>
          <a:p>
            <a:r>
              <a:rPr lang="pt-BR" sz="1600" dirty="0" err="1"/>
              <a:t>Props</a:t>
            </a:r>
            <a:r>
              <a:rPr lang="pt-BR" sz="1600" dirty="0"/>
              <a:t> e </a:t>
            </a:r>
            <a:r>
              <a:rPr lang="pt-BR" sz="1600" dirty="0" err="1"/>
              <a:t>states</a:t>
            </a:r>
            <a:endParaRPr lang="pt-BR" sz="1600" dirty="0"/>
          </a:p>
          <a:p>
            <a:r>
              <a:rPr lang="pt-BR" sz="1600" dirty="0"/>
              <a:t>Dependências triviais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RESUMO DA OFICINA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95686"/>
            <a:ext cx="3096493" cy="23223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BF7CB2-AD69-42F3-9FE9-D830217A36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4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4D5F3060-0AA9-471B-AB2A-8B41D45D90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591" y="3865939"/>
            <a:ext cx="994946" cy="971626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16016" y="1563638"/>
            <a:ext cx="3970784" cy="3178394"/>
          </a:xfrm>
        </p:spPr>
        <p:txBody>
          <a:bodyPr anchor="ctr">
            <a:noAutofit/>
          </a:bodyPr>
          <a:lstStyle/>
          <a:p>
            <a:r>
              <a:rPr lang="pt-BR" sz="1600" dirty="0"/>
              <a:t>Tecnólogo em Sistemas para Internet – IFC Camboriú</a:t>
            </a:r>
          </a:p>
          <a:p>
            <a:r>
              <a:rPr lang="pt-BR" sz="1600" dirty="0"/>
              <a:t>Estudante de Bacharelado em Sistemas de Informação – IFC Camboriú</a:t>
            </a:r>
          </a:p>
          <a:p>
            <a:r>
              <a:rPr lang="pt-BR" sz="1600" dirty="0"/>
              <a:t>Mestrando em Engenharia de Automação e Sistemas - UFSC</a:t>
            </a:r>
          </a:p>
          <a:p>
            <a:r>
              <a:rPr lang="pt-BR" sz="1600" dirty="0"/>
              <a:t>Técnico em Informática e Administração de Empresas</a:t>
            </a:r>
          </a:p>
          <a:p>
            <a:r>
              <a:rPr lang="pt-BR" sz="1600" dirty="0"/>
              <a:t>+15 anos em tecnologia (automação industrial e comercial)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INSTRUTOR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247DFC-198A-417A-A6FD-9A227948E4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837" y="1709452"/>
            <a:ext cx="1165751" cy="80663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7" y="2571786"/>
            <a:ext cx="844246" cy="8442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8080366-C7B1-450B-A100-58D5622BC4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289" y="1666828"/>
            <a:ext cx="1465849" cy="3855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76689FB-B59E-4B9E-B78E-E0F75FC56D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5" y="1669598"/>
            <a:ext cx="1097195" cy="67519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E1057C8-A01F-484E-ACEA-B90DA27978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C0CB4B2-C2EF-4101-A211-DF5AA247F86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036" y="2171047"/>
            <a:ext cx="1227401" cy="6900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0F945AE-4CF5-45D3-A371-2CF00B5E93E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055" y="2853902"/>
            <a:ext cx="1224234" cy="28001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81E0DC9-1C00-436F-A712-5AECC61E6F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829" y="2979824"/>
            <a:ext cx="538249" cy="99494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E654017-3F7D-4B99-ACB6-3F8EE1652E4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671" y="3368466"/>
            <a:ext cx="994946" cy="99494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88CA3E7-A8AE-4306-A7B4-4F5CB440B2D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2" y="4267460"/>
            <a:ext cx="994946" cy="32024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235846F-5CB8-4F00-9498-E33D5844DBE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4" y="3738411"/>
            <a:ext cx="994946" cy="2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59171"/>
            <a:ext cx="8085584" cy="2712779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pt-BR" sz="3600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pt-BR" sz="3600" dirty="0"/>
              <a:t>github.com/mach3k/</a:t>
            </a:r>
          </a:p>
          <a:p>
            <a:pPr marL="0" indent="0" algn="ctr">
              <a:buNone/>
            </a:pPr>
            <a:r>
              <a:rPr lang="pt-BR" sz="2500" dirty="0" err="1"/>
              <a:t>cloneInsta</a:t>
            </a:r>
            <a:endParaRPr lang="pt-BR" sz="2500" dirty="0"/>
          </a:p>
          <a:p>
            <a:pPr marL="0" indent="0" algn="ctr">
              <a:buNone/>
            </a:pPr>
            <a:r>
              <a:rPr lang="pt-BR" sz="2500" dirty="0" err="1"/>
              <a:t>blogReactJS</a:t>
            </a:r>
            <a:endParaRPr lang="pt-BR" sz="2500" dirty="0"/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ARQUIVOS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ADBCF4-C30F-4A1B-B375-DC84F970D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1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59832" y="1659171"/>
            <a:ext cx="5672297" cy="3144827"/>
          </a:xfrm>
        </p:spPr>
        <p:txBody>
          <a:bodyPr anchor="ctr">
            <a:noAutofit/>
          </a:bodyPr>
          <a:lstStyle/>
          <a:p>
            <a:r>
              <a:rPr lang="pt-BR" sz="1600" dirty="0"/>
              <a:t>Criado pelo Facebook</a:t>
            </a:r>
          </a:p>
          <a:p>
            <a:r>
              <a:rPr lang="pt-BR" sz="1600" dirty="0"/>
              <a:t>Biblioteca (</a:t>
            </a:r>
            <a:r>
              <a:rPr lang="pt-BR" sz="1600" dirty="0" err="1"/>
              <a:t>OpenSource</a:t>
            </a:r>
            <a:r>
              <a:rPr lang="pt-BR" sz="1600" dirty="0"/>
              <a:t>) </a:t>
            </a:r>
            <a:r>
              <a:rPr lang="pt-BR" sz="1600" dirty="0" err="1"/>
              <a:t>JavaScript</a:t>
            </a:r>
            <a:r>
              <a:rPr lang="pt-BR" sz="1600" dirty="0"/>
              <a:t> para criação de interfaces</a:t>
            </a:r>
          </a:p>
          <a:p>
            <a:r>
              <a:rPr lang="pt-BR" sz="1600" dirty="0"/>
              <a:t>Utilizado por Walmart, Netflix, </a:t>
            </a:r>
            <a:r>
              <a:rPr lang="pt-BR" sz="1600" dirty="0" err="1"/>
              <a:t>Airbnb</a:t>
            </a:r>
            <a:r>
              <a:rPr lang="pt-BR" sz="1600" dirty="0"/>
              <a:t> e </a:t>
            </a:r>
            <a:r>
              <a:rPr lang="pt-BR" sz="1600" dirty="0" err="1"/>
              <a:t>Feedly</a:t>
            </a:r>
            <a:endParaRPr lang="pt-BR" sz="1600" dirty="0"/>
          </a:p>
          <a:p>
            <a:r>
              <a:rPr lang="pt-BR" sz="1600" dirty="0"/>
              <a:t>Oferece websites com alto desempenho e escalabilidade</a:t>
            </a:r>
          </a:p>
          <a:p>
            <a:r>
              <a:rPr lang="pt-BR" sz="1600" dirty="0"/>
              <a:t>Facilita o reaproveitamento de código</a:t>
            </a:r>
          </a:p>
          <a:p>
            <a:r>
              <a:rPr lang="pt-BR" sz="1600" dirty="0"/>
              <a:t>Otimiza o SEO da sua aplicação</a:t>
            </a:r>
          </a:p>
          <a:p>
            <a:r>
              <a:rPr lang="pt-BR" sz="1600" dirty="0"/>
              <a:t>Embora o conceito ainda seja novo, está amadurecendo rapidamente e o Facebook planeja continuar investindo nele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REACTJS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871" y="2328471"/>
            <a:ext cx="2376264" cy="1335159"/>
          </a:xfrm>
          <a:prstGeom prst="rect">
            <a:avLst/>
          </a:prstGeom>
          <a:effectLst/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8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20072" y="1659171"/>
            <a:ext cx="3512057" cy="3144827"/>
          </a:xfrm>
        </p:spPr>
        <p:txBody>
          <a:bodyPr anchor="ctr">
            <a:noAutofit/>
          </a:bodyPr>
          <a:lstStyle/>
          <a:p>
            <a:r>
              <a:rPr lang="pt-BR" sz="1600" dirty="0"/>
              <a:t>Novo módulo introduzido à biblioteca principal</a:t>
            </a:r>
          </a:p>
          <a:p>
            <a:r>
              <a:rPr lang="pt-BR" sz="1600" dirty="0"/>
              <a:t>Fornece suporte ao desenvolvimento de aplicações móveis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REACT NATIVE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0624" y="2259892"/>
            <a:ext cx="3930982" cy="2201348"/>
          </a:xfrm>
          <a:prstGeom prst="rect">
            <a:avLst/>
          </a:prstGeom>
          <a:effectLst/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2054" y="2196219"/>
            <a:ext cx="5176410" cy="2521002"/>
          </a:xfrm>
        </p:spPr>
        <p:txBody>
          <a:bodyPr>
            <a:noAutofit/>
          </a:bodyPr>
          <a:lstStyle/>
          <a:p>
            <a:r>
              <a:rPr lang="pt-BR" sz="1600" dirty="0"/>
              <a:t>Conexão com internet</a:t>
            </a:r>
          </a:p>
          <a:p>
            <a:r>
              <a:rPr lang="pt-BR" sz="1600" dirty="0" err="1"/>
              <a:t>NodeJS</a:t>
            </a:r>
            <a:r>
              <a:rPr lang="pt-BR" sz="1600" dirty="0"/>
              <a:t> v10+ (</a:t>
            </a:r>
            <a:r>
              <a:rPr lang="pt-BR" sz="1600" dirty="0">
                <a:hlinkClick r:id="rId2"/>
              </a:rPr>
              <a:t>https://nodejs.org/</a:t>
            </a:r>
            <a:r>
              <a:rPr lang="pt-BR" sz="1600" dirty="0" err="1">
                <a:hlinkClick r:id="rId2"/>
              </a:rPr>
              <a:t>en</a:t>
            </a:r>
            <a:r>
              <a:rPr lang="pt-BR" sz="1600" dirty="0">
                <a:hlinkClick r:id="rId2"/>
              </a:rPr>
              <a:t>/download/</a:t>
            </a:r>
            <a:r>
              <a:rPr lang="pt-BR" sz="1600" dirty="0"/>
              <a:t>)</a:t>
            </a:r>
          </a:p>
          <a:p>
            <a:r>
              <a:rPr lang="pt-BR" sz="1600" dirty="0"/>
              <a:t>NPM v6+ (já vem no pacote do </a:t>
            </a:r>
            <a:r>
              <a:rPr lang="pt-BR" sz="1600" dirty="0" err="1"/>
              <a:t>NodeJS</a:t>
            </a:r>
            <a:r>
              <a:rPr lang="pt-BR" sz="1600" dirty="0"/>
              <a:t>) (</a:t>
            </a:r>
            <a:r>
              <a:rPr lang="pt-BR" sz="1600" dirty="0">
                <a:hlinkClick r:id="rId3"/>
              </a:rPr>
              <a:t>https://www.npmjs.com/</a:t>
            </a:r>
            <a:r>
              <a:rPr lang="pt-BR" sz="1600" dirty="0" err="1">
                <a:hlinkClick r:id="rId3"/>
              </a:rPr>
              <a:t>get-npm</a:t>
            </a:r>
            <a:r>
              <a:rPr lang="pt-BR" sz="1600" dirty="0"/>
              <a:t>)</a:t>
            </a:r>
          </a:p>
          <a:p>
            <a:r>
              <a:rPr lang="pt-BR" sz="1600" dirty="0" err="1"/>
              <a:t>Yarn</a:t>
            </a:r>
            <a:r>
              <a:rPr lang="pt-BR" sz="1600" dirty="0"/>
              <a:t>  v1.17+ (</a:t>
            </a:r>
            <a:r>
              <a:rPr lang="pt-BR" sz="1600" dirty="0">
                <a:hlinkClick r:id="rId4"/>
              </a:rPr>
              <a:t>https://yarnpkg.com/</a:t>
            </a:r>
            <a:r>
              <a:rPr lang="pt-BR" sz="1600" dirty="0" err="1">
                <a:hlinkClick r:id="rId4"/>
              </a:rPr>
              <a:t>en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docs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install</a:t>
            </a:r>
            <a:r>
              <a:rPr lang="pt-BR" sz="1600" dirty="0"/>
              <a:t>)</a:t>
            </a:r>
          </a:p>
          <a:p>
            <a:r>
              <a:rPr lang="pt-BR" sz="1600" dirty="0"/>
              <a:t>IDE (VS </a:t>
            </a:r>
            <a:r>
              <a:rPr lang="pt-BR" sz="1600" dirty="0" err="1"/>
              <a:t>Code</a:t>
            </a:r>
            <a:r>
              <a:rPr lang="pt-BR" sz="1600" dirty="0"/>
              <a:t> v1.3+) (</a:t>
            </a:r>
            <a:r>
              <a:rPr lang="pt-BR" sz="1600" dirty="0">
                <a:hlinkClick r:id="rId5"/>
              </a:rPr>
              <a:t>https://code.visualstudio.com/</a:t>
            </a:r>
            <a:r>
              <a:rPr lang="pt-BR" sz="1600" dirty="0"/>
              <a:t>)</a:t>
            </a:r>
          </a:p>
          <a:p>
            <a:endParaRPr lang="pt-BR" sz="1600" dirty="0"/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REQUISITOS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E1057C8-A01F-484E-ACEA-B90DA27978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D2C733C-DA72-47C7-B82F-F517D4864A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772" y="3701564"/>
            <a:ext cx="988023" cy="98802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529F5DE-A09A-4C93-9E7A-1D6E4F30644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36" y="1637857"/>
            <a:ext cx="1488966" cy="11167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76689FB-B59E-4B9E-B78E-E0F75FC56DA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19" y="2665849"/>
            <a:ext cx="988023" cy="98802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D0FB575-99EE-461B-8D8C-22E7B813ADF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7110" y="2196219"/>
            <a:ext cx="988023" cy="48727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B41614A-9862-4876-875F-89532E531E2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8042" y="3771749"/>
            <a:ext cx="988023" cy="65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2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08104" y="1659171"/>
            <a:ext cx="3178696" cy="2856795"/>
          </a:xfrm>
        </p:spPr>
        <p:txBody>
          <a:bodyPr anchor="ctr">
            <a:noAutofit/>
          </a:bodyPr>
          <a:lstStyle/>
          <a:p>
            <a:r>
              <a:rPr lang="pt-BR" sz="1800" dirty="0"/>
              <a:t>Por linha de comando</a:t>
            </a:r>
          </a:p>
          <a:p>
            <a:endParaRPr lang="pt-BR" sz="1600" dirty="0"/>
          </a:p>
          <a:p>
            <a:r>
              <a:rPr lang="pt-BR" sz="1600" dirty="0" err="1"/>
              <a:t>npm</a:t>
            </a:r>
            <a:r>
              <a:rPr lang="pt-BR" sz="1600" dirty="0"/>
              <a:t> i </a:t>
            </a:r>
            <a:r>
              <a:rPr lang="pt-BR" sz="1600" dirty="0" err="1"/>
              <a:t>create</a:t>
            </a:r>
            <a:r>
              <a:rPr lang="pt-BR" sz="1600" dirty="0"/>
              <a:t>-</a:t>
            </a:r>
            <a:r>
              <a:rPr lang="pt-BR" sz="1600" dirty="0" err="1"/>
              <a:t>react</a:t>
            </a:r>
            <a:r>
              <a:rPr lang="pt-BR" sz="1600" dirty="0"/>
              <a:t>-app</a:t>
            </a:r>
          </a:p>
          <a:p>
            <a:r>
              <a:rPr lang="pt-BR" sz="1600" dirty="0" err="1"/>
              <a:t>create</a:t>
            </a:r>
            <a:r>
              <a:rPr lang="pt-BR" sz="1600" dirty="0"/>
              <a:t>-</a:t>
            </a:r>
            <a:r>
              <a:rPr lang="pt-BR" sz="1600" dirty="0" err="1"/>
              <a:t>react</a:t>
            </a:r>
            <a:r>
              <a:rPr lang="pt-BR" sz="1600" dirty="0"/>
              <a:t>-app </a:t>
            </a:r>
            <a:r>
              <a:rPr lang="pt-BR" sz="1600" dirty="0" err="1"/>
              <a:t>meuapp</a:t>
            </a:r>
            <a:endParaRPr lang="pt-BR" sz="1600" dirty="0"/>
          </a:p>
          <a:p>
            <a:endParaRPr lang="pt-BR" sz="1600" dirty="0"/>
          </a:p>
          <a:p>
            <a:r>
              <a:rPr lang="pt-BR" sz="1600" dirty="0" err="1"/>
              <a:t>npx</a:t>
            </a:r>
            <a:r>
              <a:rPr lang="pt-BR" sz="1600" dirty="0"/>
              <a:t> </a:t>
            </a:r>
            <a:r>
              <a:rPr lang="pt-BR" sz="1600" dirty="0" err="1"/>
              <a:t>create</a:t>
            </a:r>
            <a:r>
              <a:rPr lang="pt-BR" sz="1600" dirty="0"/>
              <a:t>-</a:t>
            </a:r>
            <a:r>
              <a:rPr lang="pt-BR" sz="1600" dirty="0" err="1"/>
              <a:t>react</a:t>
            </a:r>
            <a:r>
              <a:rPr lang="pt-BR" sz="1600" dirty="0"/>
              <a:t>-app </a:t>
            </a:r>
            <a:r>
              <a:rPr lang="pt-BR" sz="1600" dirty="0" err="1"/>
              <a:t>meuapp</a:t>
            </a:r>
            <a:endParaRPr lang="pt-BR" sz="1800" dirty="0"/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INSTALAÇÃO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851670"/>
            <a:ext cx="4922847" cy="22514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8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59171"/>
            <a:ext cx="9144000" cy="2712779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>
                <a:solidFill>
                  <a:srgbClr val="0070C0"/>
                </a:solidFill>
              </a:rPr>
              <a:t>create</a:t>
            </a:r>
            <a:r>
              <a:rPr lang="pt-BR" dirty="0">
                <a:solidFill>
                  <a:srgbClr val="0070C0"/>
                </a:solidFill>
              </a:rPr>
              <a:t>-</a:t>
            </a:r>
            <a:r>
              <a:rPr lang="pt-BR" dirty="0" err="1">
                <a:solidFill>
                  <a:srgbClr val="0070C0"/>
                </a:solidFill>
              </a:rPr>
              <a:t>react</a:t>
            </a:r>
            <a:r>
              <a:rPr lang="pt-BR" dirty="0">
                <a:solidFill>
                  <a:srgbClr val="0070C0"/>
                </a:solidFill>
              </a:rPr>
              <a:t>-app</a:t>
            </a:r>
            <a:r>
              <a:rPr lang="pt-BR" dirty="0"/>
              <a:t> </a:t>
            </a:r>
            <a:r>
              <a:rPr lang="pt-BR" dirty="0" err="1"/>
              <a:t>meuapp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0" y="947924"/>
            <a:ext cx="91440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INSTALAÇÃO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ADBCF4-C30F-4A1B-B375-DC84F970D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6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59171"/>
            <a:ext cx="9144000" cy="2712779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pt-BR" sz="4000" dirty="0" err="1"/>
              <a:t>cd</a:t>
            </a:r>
            <a:r>
              <a:rPr lang="pt-BR" sz="4000" dirty="0"/>
              <a:t> </a:t>
            </a:r>
            <a:r>
              <a:rPr lang="pt-BR" sz="4000" dirty="0" err="1">
                <a:solidFill>
                  <a:srgbClr val="0070C0"/>
                </a:solidFill>
              </a:rPr>
              <a:t>meuapp</a:t>
            </a:r>
            <a:endParaRPr lang="pt-BR" sz="40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pt-BR" sz="4000" dirty="0" err="1"/>
              <a:t>npm</a:t>
            </a:r>
            <a:r>
              <a:rPr lang="pt-BR" sz="4000" dirty="0"/>
              <a:t> </a:t>
            </a:r>
            <a:r>
              <a:rPr lang="pt-BR" sz="4000" dirty="0">
                <a:solidFill>
                  <a:srgbClr val="0070C0"/>
                </a:solidFill>
              </a:rPr>
              <a:t>start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0" y="947924"/>
            <a:ext cx="91440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TÁCA-LE PAU, MARCO VÉIO...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ADBCF4-C30F-4A1B-B375-DC84F970D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0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7584" y="1659171"/>
            <a:ext cx="7668716" cy="2712779"/>
          </a:xfrm>
        </p:spPr>
        <p:txBody>
          <a:bodyPr anchor="ctr">
            <a:noAutofit/>
          </a:bodyPr>
          <a:lstStyle/>
          <a:p>
            <a:r>
              <a:rPr lang="pt-BR" sz="1600" dirty="0"/>
              <a:t>Funções que recebem parâmetros (</a:t>
            </a:r>
            <a:r>
              <a:rPr lang="pt-BR" sz="1600" dirty="0" err="1"/>
              <a:t>props</a:t>
            </a:r>
            <a:r>
              <a:rPr lang="pt-BR" sz="1600" dirty="0"/>
              <a:t>)</a:t>
            </a:r>
          </a:p>
          <a:p>
            <a:r>
              <a:rPr lang="pt-BR" sz="1600" dirty="0"/>
              <a:t>Retornam elementos do </a:t>
            </a:r>
            <a:r>
              <a:rPr lang="pt-BR" sz="1600" dirty="0" err="1"/>
              <a:t>React</a:t>
            </a:r>
            <a:r>
              <a:rPr lang="pt-BR" sz="1600" dirty="0"/>
              <a:t> que descrevem o que deve aparecer na tela</a:t>
            </a:r>
          </a:p>
          <a:p>
            <a:r>
              <a:rPr lang="pt-BR" sz="1600" dirty="0"/>
              <a:t>Possibilita a reutilização do código</a:t>
            </a:r>
          </a:p>
          <a:p>
            <a:r>
              <a:rPr lang="pt-BR" sz="1600" dirty="0"/>
              <a:t>Mantém o padrão na interface do App</a:t>
            </a:r>
          </a:p>
          <a:p>
            <a:r>
              <a:rPr lang="pt-BR" sz="1600" dirty="0"/>
              <a:t>Regra básica: deve retornar apenas 1 </a:t>
            </a:r>
            <a:r>
              <a:rPr lang="pt-BR" sz="1600" dirty="0" err="1"/>
              <a:t>tag</a:t>
            </a:r>
            <a:r>
              <a:rPr lang="pt-BR" sz="1600" dirty="0"/>
              <a:t> na raiz</a:t>
            </a:r>
          </a:p>
          <a:p>
            <a:r>
              <a:rPr lang="pt-BR" sz="1600" dirty="0"/>
              <a:t>Podem ser </a:t>
            </a:r>
            <a:r>
              <a:rPr lang="pt-BR" sz="1600" dirty="0" err="1"/>
              <a:t>Stateless</a:t>
            </a:r>
            <a:r>
              <a:rPr lang="pt-BR" sz="1600" dirty="0"/>
              <a:t> (simples) ou </a:t>
            </a:r>
            <a:r>
              <a:rPr lang="pt-BR" sz="1600" dirty="0" err="1"/>
              <a:t>Statefull</a:t>
            </a:r>
            <a:r>
              <a:rPr lang="pt-BR" sz="1600" dirty="0"/>
              <a:t> (com estados)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COMPONENTES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4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COMPONENTES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8774" y="1659171"/>
            <a:ext cx="7386452" cy="29672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3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60232" y="1659171"/>
            <a:ext cx="1836068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Extremamente simples</a:t>
            </a:r>
          </a:p>
          <a:p>
            <a:r>
              <a:rPr lang="pt-BR" sz="1600" dirty="0"/>
              <a:t>É uma função que retorna um elemento do </a:t>
            </a:r>
            <a:r>
              <a:rPr lang="pt-BR" sz="1600" dirty="0" err="1"/>
              <a:t>React</a:t>
            </a:r>
            <a:endParaRPr lang="pt-BR" sz="1600" dirty="0"/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COMPONENTES STATELESS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552" y="1659171"/>
            <a:ext cx="5946788" cy="28580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9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60232" y="1659171"/>
            <a:ext cx="1836068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Crie uma pasta “componentes” dentro de “</a:t>
            </a:r>
            <a:r>
              <a:rPr lang="pt-BR" sz="1600" dirty="0" err="1"/>
              <a:t>src</a:t>
            </a:r>
            <a:r>
              <a:rPr lang="pt-BR" sz="1600" dirty="0"/>
              <a:t>”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COMPONENTES STATELESS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552" y="1659171"/>
            <a:ext cx="5946788" cy="28580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3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56176" y="1659171"/>
            <a:ext cx="2340124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Possui variáveis internas</a:t>
            </a:r>
          </a:p>
          <a:p>
            <a:r>
              <a:rPr lang="pt-BR" sz="1600" dirty="0" err="1"/>
              <a:t>Renderiza</a:t>
            </a:r>
            <a:r>
              <a:rPr lang="pt-BR" sz="1600" dirty="0"/>
              <a:t> novamente quando alguma variável interna é alterada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COMPONENTES STATEFULL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741" y="1829626"/>
            <a:ext cx="5135753" cy="28580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53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NOVO COMPONENTE: TIMER.JS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28" y="1549060"/>
            <a:ext cx="4618856" cy="27048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F0B386A-593C-4425-9F24-D8F7314586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045" y="2118528"/>
            <a:ext cx="3803594" cy="28580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533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4088" y="1659171"/>
            <a:ext cx="3132212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Parâmetros que o componente recebe</a:t>
            </a:r>
          </a:p>
          <a:p>
            <a:r>
              <a:rPr lang="pt-BR" sz="1600" dirty="0"/>
              <a:t>Permite reutilizar o componente</a:t>
            </a:r>
          </a:p>
          <a:p>
            <a:r>
              <a:rPr lang="pt-BR" sz="1600" dirty="0"/>
              <a:t>São apenas leitura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PROPS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76" y="2568039"/>
            <a:ext cx="4032448" cy="10298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7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88024" y="1659171"/>
            <a:ext cx="3708276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Área de memória que guarda as variáveis de estado do componente</a:t>
            </a:r>
          </a:p>
          <a:p>
            <a:r>
              <a:rPr lang="pt-BR" sz="1600" dirty="0"/>
              <a:t>São leitura e escrita</a:t>
            </a:r>
          </a:p>
          <a:p>
            <a:r>
              <a:rPr lang="pt-BR" sz="1600" dirty="0"/>
              <a:t>Leitura direto no atributo (</a:t>
            </a:r>
            <a:r>
              <a:rPr lang="pt-BR" sz="1600" dirty="0" err="1"/>
              <a:t>this.state.posts</a:t>
            </a:r>
            <a:r>
              <a:rPr lang="pt-BR" sz="1600" dirty="0"/>
              <a:t>)</a:t>
            </a:r>
          </a:p>
          <a:p>
            <a:r>
              <a:rPr lang="pt-BR" sz="1600" dirty="0"/>
              <a:t>Escrita utiliza o método “</a:t>
            </a:r>
            <a:r>
              <a:rPr lang="pt-BR" sz="1600" dirty="0" err="1"/>
              <a:t>setState</a:t>
            </a:r>
            <a:r>
              <a:rPr lang="pt-BR" sz="1600" dirty="0"/>
              <a:t>”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STATES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584" y="1826717"/>
            <a:ext cx="3312368" cy="2689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59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88024" y="1659171"/>
            <a:ext cx="3708276" cy="2856795"/>
          </a:xfrm>
        </p:spPr>
        <p:txBody>
          <a:bodyPr anchor="ctr">
            <a:noAutofit/>
          </a:bodyPr>
          <a:lstStyle/>
          <a:p>
            <a:r>
              <a:rPr lang="pt-BR" sz="1600" dirty="0"/>
              <a:t>Área de memória que guarda as variáveis de estado do componente</a:t>
            </a:r>
          </a:p>
          <a:p>
            <a:r>
              <a:rPr lang="pt-BR" sz="1600" dirty="0"/>
              <a:t>São leitura e escrita</a:t>
            </a:r>
          </a:p>
          <a:p>
            <a:r>
              <a:rPr lang="pt-BR" sz="1600" dirty="0"/>
              <a:t>Leitura direto no atributo (</a:t>
            </a:r>
            <a:r>
              <a:rPr lang="pt-BR" sz="1600" dirty="0" err="1"/>
              <a:t>this.state.posts</a:t>
            </a:r>
            <a:r>
              <a:rPr lang="pt-BR" sz="1600" dirty="0"/>
              <a:t>)</a:t>
            </a:r>
          </a:p>
          <a:p>
            <a:r>
              <a:rPr lang="pt-BR" sz="1600" dirty="0"/>
              <a:t>Escrita utiliza o método “</a:t>
            </a:r>
            <a:r>
              <a:rPr lang="pt-BR" sz="1600" dirty="0" err="1"/>
              <a:t>setState</a:t>
            </a:r>
            <a:r>
              <a:rPr lang="pt-BR" sz="1600" dirty="0"/>
              <a:t>”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STATES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584" y="1826717"/>
            <a:ext cx="3312368" cy="2689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2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28184" y="1659171"/>
            <a:ext cx="2268116" cy="285679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pt-BR" sz="1600" dirty="0"/>
              <a:t>Note que você pode criar a pasta com o nome do componente e um arquivo index.js nela, assim ele pode ter sua própria folha de estilo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NOVO COMPONENTE: PHOTO.JS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722" y="1811783"/>
            <a:ext cx="5358438" cy="28893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89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AJUSTE NO APP.JS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5776" y="1659171"/>
            <a:ext cx="4032448" cy="31649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25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AJUSTE NO PHOTO.JS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1508" y="1545637"/>
            <a:ext cx="4620983" cy="3290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44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AJUSTE NO APP.JS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613" y="1567964"/>
            <a:ext cx="7910773" cy="30886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53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AJUSTE NO PHOTO.JS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1979" y="1545637"/>
            <a:ext cx="3260041" cy="3290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AJUSTE NO APP.JS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9672" y="1545637"/>
            <a:ext cx="5904656" cy="34150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25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7584" y="1659171"/>
            <a:ext cx="7920880" cy="2856795"/>
          </a:xfrm>
        </p:spPr>
        <p:txBody>
          <a:bodyPr anchor="ctr">
            <a:noAutofit/>
          </a:bodyPr>
          <a:lstStyle/>
          <a:p>
            <a:r>
              <a:rPr lang="pt-BR" sz="1600" dirty="0" err="1"/>
              <a:t>Axios</a:t>
            </a:r>
            <a:r>
              <a:rPr lang="pt-BR" sz="1600" dirty="0"/>
              <a:t> (requisições </a:t>
            </a:r>
            <a:r>
              <a:rPr lang="pt-BR" sz="1600" dirty="0" err="1"/>
              <a:t>ajax</a:t>
            </a:r>
            <a:r>
              <a:rPr lang="pt-BR" sz="1600" dirty="0"/>
              <a:t>)</a:t>
            </a:r>
          </a:p>
          <a:p>
            <a:r>
              <a:rPr lang="pt-BR" sz="1600" dirty="0" err="1"/>
              <a:t>Router</a:t>
            </a:r>
            <a:r>
              <a:rPr lang="pt-BR" sz="1600" dirty="0"/>
              <a:t>-dom (roteamento de requisições)</a:t>
            </a:r>
          </a:p>
          <a:p>
            <a:r>
              <a:rPr lang="pt-BR" sz="1600" dirty="0" err="1"/>
              <a:t>Prop-types</a:t>
            </a:r>
            <a:r>
              <a:rPr lang="pt-BR" sz="1600" dirty="0"/>
              <a:t> (tipos de dados para atributos de </a:t>
            </a:r>
            <a:r>
              <a:rPr lang="pt-BR" sz="1600" dirty="0" err="1"/>
              <a:t>props</a:t>
            </a:r>
            <a:r>
              <a:rPr lang="pt-BR" sz="1600" dirty="0"/>
              <a:t>)</a:t>
            </a:r>
          </a:p>
          <a:p>
            <a:r>
              <a:rPr lang="pt-BR" sz="1600" dirty="0" err="1"/>
              <a:t>Dot-env</a:t>
            </a:r>
            <a:r>
              <a:rPr lang="pt-BR" sz="1600" dirty="0"/>
              <a:t> (configuração de variáveis de ambiente e constantes globais)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DEPENDÊNCIAS TRIVIAIS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54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7584" y="1659171"/>
            <a:ext cx="7920880" cy="2856795"/>
          </a:xfrm>
        </p:spPr>
        <p:txBody>
          <a:bodyPr anchor="ctr">
            <a:noAutofit/>
          </a:bodyPr>
          <a:lstStyle/>
          <a:p>
            <a:r>
              <a:rPr lang="pt-BR" sz="1600" dirty="0" err="1"/>
              <a:t>Github</a:t>
            </a:r>
            <a:r>
              <a:rPr lang="pt-BR" sz="1600" dirty="0"/>
              <a:t> do instrutor: </a:t>
            </a:r>
            <a:r>
              <a:rPr lang="pt-BR" sz="1600" dirty="0">
                <a:hlinkClick r:id="rId2"/>
              </a:rPr>
              <a:t>https://github.com/mach3k</a:t>
            </a:r>
            <a:endParaRPr lang="pt-BR" sz="1600" dirty="0"/>
          </a:p>
          <a:p>
            <a:r>
              <a:rPr lang="pt-BR" sz="1600" dirty="0">
                <a:hlinkClick r:id="rId3"/>
              </a:rPr>
              <a:t>https://pt-br.reactjs.org/</a:t>
            </a:r>
            <a:endParaRPr lang="pt-BR" sz="1600" dirty="0"/>
          </a:p>
          <a:p>
            <a:r>
              <a:rPr lang="pt-BR" sz="1600" dirty="0">
                <a:hlinkClick r:id="rId4"/>
              </a:rPr>
              <a:t>https://reactjsexample.com/</a:t>
            </a:r>
            <a:endParaRPr lang="pt-BR" sz="1600" dirty="0"/>
          </a:p>
          <a:p>
            <a:r>
              <a:rPr lang="pt-BR" sz="1600" dirty="0">
                <a:hlinkClick r:id="rId5"/>
              </a:rPr>
              <a:t>https://medium.com/reactbrasil/10-assuntos-que-todo-iniciante-em-react-deve-ficar-por-dentro-a990dd1b0461</a:t>
            </a:r>
            <a:endParaRPr lang="pt-BR" sz="1600" dirty="0"/>
          </a:p>
          <a:p>
            <a:r>
              <a:rPr lang="pt-BR" sz="1600" dirty="0">
                <a:hlinkClick r:id="rId6"/>
              </a:rPr>
              <a:t>https://medium.com/@hugooodias/reactjs-para-iniciantes-criando-um-clone-do-instagram-b10bcef4bd59</a:t>
            </a:r>
            <a:endParaRPr lang="pt-BR" sz="1600" dirty="0"/>
          </a:p>
          <a:p>
            <a:r>
              <a:rPr lang="pt-BR" sz="1600" dirty="0">
                <a:hlinkClick r:id="rId7"/>
              </a:rPr>
              <a:t>https://blog.rocketseat.com.br/react-do-zero-ciclo-de-vida-stateless-components-e-arquitetura-flux/</a:t>
            </a:r>
            <a:endParaRPr lang="pt-BR" sz="1600" dirty="0"/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947924"/>
            <a:ext cx="8229600" cy="597713"/>
          </a:xfrm>
        </p:spPr>
        <p:txBody>
          <a:bodyPr>
            <a:normAutofit/>
          </a:bodyPr>
          <a:lstStyle/>
          <a:p>
            <a:r>
              <a:rPr lang="pt-BR" sz="2800" b="1" dirty="0"/>
              <a:t>LINKS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461240"/>
            <a:ext cx="405745" cy="5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52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915566"/>
            <a:ext cx="7772400" cy="1440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3200" dirty="0">
                <a:solidFill>
                  <a:schemeClr val="bg1">
                    <a:lumMod val="65000"/>
                  </a:schemeClr>
                </a:solidFill>
              </a:rPr>
              <a:t>Introdução ao </a:t>
            </a:r>
            <a:r>
              <a:rPr lang="pt-BR" sz="3200" dirty="0" err="1">
                <a:solidFill>
                  <a:schemeClr val="bg1">
                    <a:lumMod val="65000"/>
                  </a:schemeClr>
                </a:solidFill>
              </a:rPr>
              <a:t>ReactJS</a:t>
            </a:r>
            <a:endParaRPr lang="pt-BR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67894"/>
            <a:ext cx="6400800" cy="1080120"/>
          </a:xfrm>
        </p:spPr>
        <p:txBody>
          <a:bodyPr>
            <a:noAutofit/>
          </a:bodyPr>
          <a:lstStyle/>
          <a:p>
            <a:r>
              <a:rPr lang="pt-BR" sz="1800" dirty="0"/>
              <a:t>Instrutor: Marcelo Ramos Machado</a:t>
            </a:r>
          </a:p>
          <a:p>
            <a:r>
              <a:rPr lang="pt-BR" sz="1800" dirty="0"/>
              <a:t>mr.machado@gmail.com</a:t>
            </a:r>
            <a:endParaRPr lang="pt-BR" sz="1200" dirty="0"/>
          </a:p>
          <a:p>
            <a:r>
              <a:rPr lang="pt-BR" sz="1800" dirty="0"/>
              <a:t>e-</a:t>
            </a:r>
            <a:r>
              <a:rPr lang="pt-BR" sz="1800" dirty="0" err="1"/>
              <a:t>Tic</a:t>
            </a:r>
            <a:r>
              <a:rPr lang="pt-BR" sz="1800" dirty="0"/>
              <a:t> 2019</a:t>
            </a:r>
          </a:p>
        </p:txBody>
      </p:sp>
      <p:pic>
        <p:nvPicPr>
          <p:cNvPr id="4" name="Imagem 3" descr="ifc ca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34390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1FC973B-7A8A-4F8E-A720-7B078584B377}"/>
              </a:ext>
            </a:extLst>
          </p:cNvPr>
          <p:cNvSpPr txBox="1">
            <a:spLocks/>
          </p:cNvSpPr>
          <p:nvPr/>
        </p:nvSpPr>
        <p:spPr>
          <a:xfrm>
            <a:off x="685800" y="2364894"/>
            <a:ext cx="7772400" cy="1214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tx1"/>
                </a:solidFill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2939812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32318</TotalTime>
  <Words>611</Words>
  <Application>Microsoft Office PowerPoint</Application>
  <PresentationFormat>Apresentação na tela (16:9)</PresentationFormat>
  <Paragraphs>105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Calibri</vt:lpstr>
      <vt:lpstr>Tema do Office</vt:lpstr>
      <vt:lpstr>Introdução ao ReactJS </vt:lpstr>
      <vt:lpstr>RESUMO DA OFICINA</vt:lpstr>
      <vt:lpstr>INSTRUTOR</vt:lpstr>
      <vt:lpstr>ARQUIVOS</vt:lpstr>
      <vt:lpstr>REACTJS</vt:lpstr>
      <vt:lpstr>REACT NATIVE</vt:lpstr>
      <vt:lpstr>REQUISITOS</vt:lpstr>
      <vt:lpstr>INSTALAÇÃO</vt:lpstr>
      <vt:lpstr>INSTALAÇÃO</vt:lpstr>
      <vt:lpstr>TÁCA-LE PAU, MARCO VÉIO...</vt:lpstr>
      <vt:lpstr>COMPONENTES</vt:lpstr>
      <vt:lpstr>COMPONENTES</vt:lpstr>
      <vt:lpstr>COMPONENTES STATELESS</vt:lpstr>
      <vt:lpstr>COMPONENTES STATELESS</vt:lpstr>
      <vt:lpstr>COMPONENTES STATEFULL</vt:lpstr>
      <vt:lpstr>NOVO COMPONENTE: TIMER.JS</vt:lpstr>
      <vt:lpstr>PROPS</vt:lpstr>
      <vt:lpstr>STATES</vt:lpstr>
      <vt:lpstr>STATES</vt:lpstr>
      <vt:lpstr>NOVO COMPONENTE: PHOTO.JS</vt:lpstr>
      <vt:lpstr>AJUSTE NO APP.JS</vt:lpstr>
      <vt:lpstr>AJUSTE NO PHOTO.JS</vt:lpstr>
      <vt:lpstr>AJUSTE NO APP.JS</vt:lpstr>
      <vt:lpstr>AJUSTE NO PHOTO.JS</vt:lpstr>
      <vt:lpstr>AJUSTE NO APP.JS</vt:lpstr>
      <vt:lpstr>DEPENDÊNCIAS TRIVIAIS</vt:lpstr>
      <vt:lpstr>LINKS</vt:lpstr>
      <vt:lpstr>Introdução ao ReactJS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 Sistema para Instituição de Treinamento</dc:title>
  <dc:creator>Castaway</dc:creator>
  <cp:lastModifiedBy>Marcelo Machado</cp:lastModifiedBy>
  <cp:revision>133</cp:revision>
  <dcterms:created xsi:type="dcterms:W3CDTF">2015-07-02T06:49:05Z</dcterms:created>
  <dcterms:modified xsi:type="dcterms:W3CDTF">2019-10-24T15:14:36Z</dcterms:modified>
</cp:coreProperties>
</file>